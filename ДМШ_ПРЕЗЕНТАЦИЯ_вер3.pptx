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3CDD"/>
    <a:srgbClr val="5229DD"/>
    <a:srgbClr val="5D36DD"/>
    <a:srgbClr val="957FE1"/>
    <a:srgbClr val="F8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107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3098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19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7.png"/><Relationship Id="rId5" Type="http://schemas.openxmlformats.org/officeDocument/2006/relationships/image" Target="../media/image3.sv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4.png"/><Relationship Id="rId18" Type="http://schemas.openxmlformats.org/officeDocument/2006/relationships/image" Target="../media/image3.sv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7.png"/><Relationship Id="rId1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5" Type="http://schemas.openxmlformats.org/officeDocument/2006/relationships/image" Target="../media/image17.png"/><Relationship Id="rId10" Type="http://schemas.openxmlformats.org/officeDocument/2006/relationships/image" Target="../media/image8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2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30.png"/><Relationship Id="rId5" Type="http://schemas.openxmlformats.org/officeDocument/2006/relationships/image" Target="../media/image19.png"/><Relationship Id="rId1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7.png"/><Relationship Id="rId9" Type="http://schemas.openxmlformats.org/officeDocument/2006/relationships/image" Target="../media/image29.png"/><Relationship Id="rId1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8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3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3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2.png"/><Relationship Id="rId4" Type="http://schemas.openxmlformats.org/officeDocument/2006/relationships/image" Target="../media/image9.png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15.png"/><Relationship Id="rId10" Type="http://schemas.openxmlformats.org/officeDocument/2006/relationships/image" Target="../media/image1.png"/><Relationship Id="rId4" Type="http://schemas.openxmlformats.org/officeDocument/2006/relationships/image" Target="../media/image20.png"/><Relationship Id="rId9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oup 2" descr="preencoded.png">
            <a:extLst>
              <a:ext uri="{FF2B5EF4-FFF2-40B4-BE49-F238E27FC236}">
                <a16:creationId xmlns:a16="http://schemas.microsoft.com/office/drawing/2014/main" id="{AE35AF39-9206-42C2-A7D8-E5CFD06F94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9806" y="1096568"/>
            <a:ext cx="10363611" cy="4094157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550E3667-7D45-49C9-BC43-A26A2DE03257}"/>
              </a:ext>
            </a:extLst>
          </p:cNvPr>
          <p:cNvSpPr/>
          <p:nvPr/>
        </p:nvSpPr>
        <p:spPr>
          <a:xfrm>
            <a:off x="591572" y="1503157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Цифровая платформа</a:t>
            </a:r>
            <a:endParaRPr lang="en-US" sz="1400" dirty="0">
              <a:solidFill>
                <a:srgbClr val="5229DD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C13373ED-F3CC-4174-9C11-9B70DCEF4DFA}"/>
              </a:ext>
            </a:extLst>
          </p:cNvPr>
          <p:cNvSpPr/>
          <p:nvPr/>
        </p:nvSpPr>
        <p:spPr>
          <a:xfrm>
            <a:off x="591572" y="2992930"/>
            <a:ext cx="1097280" cy="22860"/>
          </a:xfrm>
          <a:prstGeom prst="rect">
            <a:avLst/>
          </a:prstGeom>
          <a:solidFill>
            <a:srgbClr val="957FE1">
              <a:alpha val="60000"/>
            </a:srgbClr>
          </a:solidFill>
          <a:ln/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CB6D2ABE-A89D-4949-B4B0-9A0242FECD8D}"/>
              </a:ext>
            </a:extLst>
          </p:cNvPr>
          <p:cNvSpPr/>
          <p:nvPr/>
        </p:nvSpPr>
        <p:spPr>
          <a:xfrm>
            <a:off x="591572" y="325633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Дистанционная медицинская школа</a:t>
            </a:r>
            <a:endParaRPr lang="en-US" sz="2000" dirty="0">
              <a:solidFill>
                <a:srgbClr val="5229DD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2EA2D16-D107-4057-BC68-3E1566311D4D}"/>
              </a:ext>
            </a:extLst>
          </p:cNvPr>
          <p:cNvSpPr/>
          <p:nvPr/>
        </p:nvSpPr>
        <p:spPr>
          <a:xfrm>
            <a:off x="581297" y="36811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2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Готовое решение для медицинских и естественно-научных классов</a:t>
            </a:r>
            <a:endParaRPr lang="en-US" sz="1200" dirty="0">
              <a:solidFill>
                <a:srgbClr val="5229DD"/>
              </a:solidFill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D5CCDE1B-E3D9-480B-B19E-25900762B55B}"/>
              </a:ext>
            </a:extLst>
          </p:cNvPr>
          <p:cNvSpPr/>
          <p:nvPr/>
        </p:nvSpPr>
        <p:spPr>
          <a:xfrm>
            <a:off x="591572" y="4714267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Создана при поддержке Минздрава России</a:t>
            </a:r>
            <a:endParaRPr lang="en-US" sz="11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9570049-9001-4ADE-8966-ADD73E3E549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502"/>
          <a:stretch/>
        </p:blipFill>
        <p:spPr>
          <a:xfrm>
            <a:off x="591572" y="1826158"/>
            <a:ext cx="4372313" cy="94908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A03EE18-C2D8-40C2-9399-78448E759442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40080" y="219939"/>
            <a:ext cx="1286691" cy="254966"/>
          </a:xfrm>
          <a:prstGeom prst="rect">
            <a:avLst/>
          </a:prstGeom>
        </p:spPr>
      </p:pic>
      <p:pic>
        <p:nvPicPr>
          <p:cNvPr id="20" name="Объект 3">
            <a:extLst>
              <a:ext uri="{FF2B5EF4-FFF2-40B4-BE49-F238E27FC236}">
                <a16:creationId xmlns:a16="http://schemas.microsoft.com/office/drawing/2014/main" id="{3C5920E3-5129-40C2-816F-FA8A6E862CE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864" y="189034"/>
            <a:ext cx="1011416" cy="2691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oup 2" descr="preencoded.png">
            <a:extLst>
              <a:ext uri="{FF2B5EF4-FFF2-40B4-BE49-F238E27FC236}">
                <a16:creationId xmlns:a16="http://schemas.microsoft.com/office/drawing/2014/main" id="{E173B491-4924-43E3-A973-3DC0F6848D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0800000">
            <a:off x="886968" y="-876748"/>
            <a:ext cx="10363611" cy="40941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797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С какими сложностями сталкиваются школы?</a:t>
            </a:r>
            <a:endParaRPr lang="en-US" sz="1700" dirty="0">
              <a:solidFill>
                <a:srgbClr val="5229DD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960120"/>
            <a:ext cx="457200" cy="18288"/>
          </a:xfrm>
          <a:prstGeom prst="rect">
            <a:avLst/>
          </a:prstGeom>
          <a:solidFill>
            <a:srgbClr val="E8DAEF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188720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188720"/>
            <a:ext cx="36576" cy="621792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31673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2435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Наполнение профильной программы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43000" y="1499616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 по анатомии и биохимии на вузовском уровне — в школе его нет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48640" y="1938528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1938528"/>
            <a:ext cx="36576" cy="621792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06654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19933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к олимпиадам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1143000" y="224942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Системная подготовка и базы заданий доступны не во всех регионах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48640" y="2688336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48640" y="2688336"/>
            <a:ext cx="36576" cy="621792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281635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2743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первой помощи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143000" y="299923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Школьникам</a:t>
            </a: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необходима качественная дистанционная программа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48640" y="3438144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48640" y="3438144"/>
            <a:ext cx="36576" cy="621792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35661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34930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Взаимодействие с медвузом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1143000" y="374904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Партнёрство с университетом для развития профиля и статуса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-1160585" y="437339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22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платформа помогает решить каждую из этих задач</a:t>
            </a:r>
            <a:endParaRPr lang="en-US" sz="1400" dirty="0">
              <a:solidFill>
                <a:srgbClr val="5229DD"/>
              </a:solidFill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63C49EC-2894-4010-BE8B-0E4B60C05DF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502"/>
          <a:stretch/>
        </p:blipFill>
        <p:spPr>
          <a:xfrm>
            <a:off x="7712932" y="178547"/>
            <a:ext cx="882428" cy="1915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oup 2" descr="preencoded.png">
            <a:extLst>
              <a:ext uri="{FF2B5EF4-FFF2-40B4-BE49-F238E27FC236}">
                <a16:creationId xmlns:a16="http://schemas.microsoft.com/office/drawing/2014/main" id="{EFDA22CD-EB49-47EE-A150-44577ABD33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426235" y="3019806"/>
            <a:ext cx="10363611" cy="409415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B4C9A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6863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Платформа «Будущий врач»</a:t>
            </a:r>
            <a:endParaRPr lang="en-US" sz="1700" dirty="0">
              <a:solidFill>
                <a:srgbClr val="5229DD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1076706"/>
            <a:ext cx="7498080" cy="329184"/>
          </a:xfrm>
          <a:prstGeom prst="rect">
            <a:avLst/>
          </a:prstGeom>
          <a:solidFill>
            <a:srgbClr val="F3EAFF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76706"/>
            <a:ext cx="36576" cy="329184"/>
          </a:xfrm>
          <a:prstGeom prst="rect">
            <a:avLst/>
          </a:prstGeom>
          <a:solidFill>
            <a:srgbClr val="6B4C9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076706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первого интереса в 5 классе — до поступления в вуз и начала карьеры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8056" y="1751076"/>
            <a:ext cx="1920240" cy="685800"/>
          </a:xfrm>
          <a:prstGeom prst="rect">
            <a:avLst/>
          </a:prstGeom>
          <a:solidFill>
            <a:srgbClr val="FAFAFE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8056" y="17693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4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20 000+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48056" y="20985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пользователей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51176" y="1751076"/>
            <a:ext cx="1920240" cy="685800"/>
          </a:xfrm>
          <a:prstGeom prst="rect">
            <a:avLst/>
          </a:prstGeom>
          <a:solidFill>
            <a:srgbClr val="FAFAFE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51176" y="17693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4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551176" y="20985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партнёров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54296" y="1751076"/>
            <a:ext cx="1920240" cy="685800"/>
          </a:xfrm>
          <a:prstGeom prst="rect">
            <a:avLst/>
          </a:prstGeom>
          <a:solidFill>
            <a:srgbClr val="FAFAFE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654296" y="17693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4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370+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654296" y="20985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единиц контента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757416" y="1751076"/>
            <a:ext cx="1920240" cy="685800"/>
          </a:xfrm>
          <a:prstGeom prst="rect">
            <a:avLst/>
          </a:prstGeom>
          <a:solidFill>
            <a:srgbClr val="FAFAFE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57416" y="17693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4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757416" y="20985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специальностей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48056" y="276377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2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ученика на платформе</a:t>
            </a:r>
            <a:endParaRPr lang="en-US" sz="1200" dirty="0">
              <a:solidFill>
                <a:srgbClr val="5229DD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48640" y="3529584"/>
            <a:ext cx="6766560" cy="22860"/>
          </a:xfrm>
          <a:prstGeom prst="rect">
            <a:avLst/>
          </a:prstGeom>
          <a:solidFill>
            <a:srgbClr val="E8DAEF"/>
          </a:solidFill>
          <a:ln/>
        </p:spPr>
      </p:sp>
      <p:sp>
        <p:nvSpPr>
          <p:cNvPr id="22" name="Shape 19"/>
          <p:cNvSpPr/>
          <p:nvPr/>
        </p:nvSpPr>
        <p:spPr>
          <a:xfrm>
            <a:off x="594360" y="3328416"/>
            <a:ext cx="438912" cy="438912"/>
          </a:xfrm>
          <a:prstGeom prst="ellipse">
            <a:avLst/>
          </a:prstGeom>
          <a:solidFill>
            <a:srgbClr val="E8DAE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94360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1440" y="3858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5–8 кл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-45720" y="4105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Ранняя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профориентация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0" y="3328416"/>
            <a:ext cx="438912" cy="438912"/>
          </a:xfrm>
          <a:prstGeom prst="ellipse">
            <a:avLst/>
          </a:prstGeom>
          <a:solidFill>
            <a:srgbClr val="E8DAE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2743200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2240280" y="3858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кл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103120" y="4105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 и отбор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(медицинские классы)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92040" y="3328416"/>
            <a:ext cx="438912" cy="438912"/>
          </a:xfrm>
          <a:prstGeom prst="ellipse">
            <a:avLst/>
          </a:prstGeom>
          <a:solidFill>
            <a:srgbClr val="6B4C9A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892040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389120" y="3858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4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10–11 кл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251960" y="4105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Олимпиады и углублённая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040880" y="3328416"/>
            <a:ext cx="438912" cy="438912"/>
          </a:xfrm>
          <a:prstGeom prst="ellipse">
            <a:avLst/>
          </a:prstGeom>
          <a:solidFill>
            <a:srgbClr val="6B4C9A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040880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537960" y="3858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4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Выпускник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400800" y="4105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поступление</a:t>
            </a:r>
            <a:endParaRPr lang="en-US" sz="1000" dirty="0"/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5C8CF2C-4700-4BBC-8017-291C0474119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502"/>
          <a:stretch/>
        </p:blipFill>
        <p:spPr>
          <a:xfrm>
            <a:off x="7712932" y="178547"/>
            <a:ext cx="882428" cy="1915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oup 2" descr="preencoded.png">
            <a:extLst>
              <a:ext uri="{FF2B5EF4-FFF2-40B4-BE49-F238E27FC236}">
                <a16:creationId xmlns:a16="http://schemas.microsoft.com/office/drawing/2014/main" id="{6C30296D-8FF3-4167-8F08-D4463B6227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563395" y="2999232"/>
            <a:ext cx="10363611" cy="409415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B4C9A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4754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Сервисы платформы «Будущий врач»</a:t>
            </a:r>
            <a:endParaRPr lang="en-US" sz="1700" dirty="0">
              <a:solidFill>
                <a:srgbClr val="5229DD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4918" y="3849631"/>
            <a:ext cx="39670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школьников, </a:t>
            </a:r>
            <a:r>
              <a:rPr lang="en-US" sz="12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студентов</a:t>
            </a:r>
            <a:r>
              <a:rPr lang="ru-RU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педагогов, специалистов  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90579" y="1237125"/>
            <a:ext cx="4114800" cy="242124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992539"/>
            <a:ext cx="5303520" cy="32004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59" y="1392573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6067" y="1392573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4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в Мед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66067" y="1648605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91747" y="220108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300"/>
              </a:spcAft>
              <a:buSzPct val="100000"/>
            </a:pPr>
            <a:r>
              <a:rPr lang="en-US" sz="95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Профориентационные события и тесты</a:t>
            </a:r>
            <a:endParaRPr lang="en-US" sz="950" dirty="0"/>
          </a:p>
          <a:p>
            <a:pPr>
              <a:spcAft>
                <a:spcPts val="300"/>
              </a:spcAft>
              <a:buSzPct val="100000"/>
            </a:pPr>
            <a:endParaRPr lang="ru-RU" sz="950" dirty="0">
              <a:solidFill>
                <a:srgbClr val="2D204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sz="950" dirty="0" err="1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</a:t>
            </a:r>
            <a:r>
              <a:rPr lang="en-US" sz="95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 ЕГЭ и ОГЭ</a:t>
            </a:r>
            <a:endParaRPr lang="en-US" sz="950" dirty="0"/>
          </a:p>
          <a:p>
            <a:pPr>
              <a:spcAft>
                <a:spcPts val="300"/>
              </a:spcAft>
              <a:buSzPct val="100000"/>
            </a:pPr>
            <a:endParaRPr lang="ru-RU" sz="950" dirty="0">
              <a:solidFill>
                <a:srgbClr val="2D204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sz="950" dirty="0" err="1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</a:t>
            </a:r>
            <a:r>
              <a:rPr lang="en-US" sz="95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для </a:t>
            </a:r>
            <a:r>
              <a:rPr lang="en-US" sz="950" dirty="0" err="1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медицинских</a:t>
            </a:r>
            <a:r>
              <a:rPr lang="en-US" sz="95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классов</a:t>
            </a:r>
            <a:endParaRPr lang="ru-RU" sz="950" dirty="0">
              <a:solidFill>
                <a:srgbClr val="2D204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300"/>
              </a:spcAft>
              <a:buSzPct val="100000"/>
            </a:pPr>
            <a:endParaRPr lang="en-US" sz="950" dirty="0"/>
          </a:p>
          <a:p>
            <a:pPr>
              <a:spcAft>
                <a:spcPts val="300"/>
              </a:spcAft>
              <a:buSzPct val="100000"/>
            </a:pPr>
            <a:r>
              <a:rPr lang="en-US" sz="95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Дистанционная медицинская школа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4601" y="1951446"/>
            <a:ext cx="1387618" cy="1387618"/>
          </a:xfrm>
          <a:prstGeom prst="rect">
            <a:avLst/>
          </a:prstGeom>
          <a:solidFill>
            <a:srgbClr val="613CDD"/>
          </a:solidFill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B182775-148F-4E59-9093-DB1D669E4F5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502"/>
          <a:stretch/>
        </p:blipFill>
        <p:spPr>
          <a:xfrm>
            <a:off x="7712932" y="178547"/>
            <a:ext cx="882428" cy="191547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793BEC1-4B58-4A56-9E3C-E5DCF55C36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1450" y="1453896"/>
            <a:ext cx="1338860" cy="2552046"/>
          </a:xfrm>
          <a:prstGeom prst="rect">
            <a:avLst/>
          </a:prstGeom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5AE005B8-F6FE-4434-A699-11176C03D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959" y="1881952"/>
            <a:ext cx="1169841" cy="708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EA2AF0F-3A13-402B-92E6-E333D7FCA07D}"/>
              </a:ext>
            </a:extLst>
          </p:cNvPr>
          <p:cNvSpPr/>
          <p:nvPr/>
        </p:nvSpPr>
        <p:spPr>
          <a:xfrm>
            <a:off x="7821806" y="1333385"/>
            <a:ext cx="1232672" cy="106182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spcAft>
                <a:spcPts val="600"/>
              </a:spcAft>
            </a:pPr>
            <a:r>
              <a:rPr lang="ru-RU" sz="900" b="1" dirty="0">
                <a:solidFill>
                  <a:srgbClr val="5229DD"/>
                </a:solidFill>
                <a:latin typeface=""/>
              </a:rPr>
              <a:t>Стажировки</a:t>
            </a:r>
          </a:p>
          <a:p>
            <a:r>
              <a:rPr lang="en-US" sz="700" dirty="0">
                <a:solidFill>
                  <a:srgbClr val="111111"/>
                </a:solidFill>
              </a:rPr>
              <a:t>База российских и зарубежных медорганизаций, предлагающих стажировки, программы летней</a:t>
            </a:r>
            <a:endParaRPr lang="ru-RU" sz="700" dirty="0">
              <a:solidFill>
                <a:srgbClr val="111111"/>
              </a:solidFill>
            </a:endParaRPr>
          </a:p>
          <a:p>
            <a:r>
              <a:rPr lang="en-US" sz="700" dirty="0">
                <a:solidFill>
                  <a:srgbClr val="111111"/>
                </a:solidFill>
              </a:rPr>
              <a:t>практики и вакансии</a:t>
            </a:r>
            <a:endParaRPr lang="ru-RU" sz="700" dirty="0">
              <a:solidFill>
                <a:srgbClr val="111111"/>
              </a:solidFill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39B433E-20BD-4863-BAC7-DF05512670FF}"/>
              </a:ext>
            </a:extLst>
          </p:cNvPr>
          <p:cNvSpPr/>
          <p:nvPr/>
        </p:nvSpPr>
        <p:spPr>
          <a:xfrm>
            <a:off x="7821806" y="2411863"/>
            <a:ext cx="1181517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spcAft>
                <a:spcPts val="600"/>
              </a:spcAft>
            </a:pPr>
            <a:r>
              <a:rPr lang="ru-RU" sz="900" b="1" dirty="0">
                <a:solidFill>
                  <a:srgbClr val="5229DD"/>
                </a:solidFill>
                <a:latin typeface=""/>
              </a:rPr>
              <a:t>Курсы</a:t>
            </a:r>
            <a:endParaRPr lang="ru-RU" sz="900" b="1" dirty="0">
              <a:solidFill>
                <a:srgbClr val="1568E8"/>
              </a:solidFill>
            </a:endParaRPr>
          </a:p>
          <a:p>
            <a:r>
              <a:rPr lang="en-US" sz="700" dirty="0">
                <a:solidFill>
                  <a:srgbClr val="111111"/>
                </a:solidFill>
              </a:rPr>
              <a:t>Курсы, видеолекции медицинской тематики, включая курсы военно-полевой медицины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25BAD68-990D-429C-893C-5243B75284BA}"/>
              </a:ext>
            </a:extLst>
          </p:cNvPr>
          <p:cNvSpPr/>
          <p:nvPr/>
        </p:nvSpPr>
        <p:spPr>
          <a:xfrm>
            <a:off x="7821806" y="3236976"/>
            <a:ext cx="1047875" cy="98488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>
              <a:spcAft>
                <a:spcPts val="600"/>
              </a:spcAft>
            </a:pPr>
            <a:r>
              <a:rPr lang="ru-RU" sz="900" b="1" spc="-50" dirty="0">
                <a:solidFill>
                  <a:srgbClr val="5229DD"/>
                </a:solidFill>
                <a:latin typeface=""/>
              </a:rPr>
              <a:t>Молодежная политика </a:t>
            </a:r>
          </a:p>
          <a:p>
            <a:pPr lvl="0">
              <a:spcAft>
                <a:spcPts val="600"/>
              </a:spcAft>
            </a:pPr>
            <a:r>
              <a:rPr lang="en-US" sz="700" dirty="0" err="1">
                <a:solidFill>
                  <a:srgbClr val="111111"/>
                </a:solidFill>
              </a:rPr>
              <a:t>Доступ</a:t>
            </a:r>
            <a:r>
              <a:rPr lang="en-US" sz="700" dirty="0">
                <a:solidFill>
                  <a:srgbClr val="111111"/>
                </a:solidFill>
              </a:rPr>
              <a:t> к практикам, обучению и мероприятиям </a:t>
            </a:r>
            <a:r>
              <a:rPr lang="ru-RU" sz="700" dirty="0">
                <a:solidFill>
                  <a:srgbClr val="111111"/>
                </a:solidFill>
              </a:rPr>
              <a:t>МП и ВД для сотрудников и обучающихся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B540064F-5797-4ED4-A10C-B1862AF77284}"/>
              </a:ext>
            </a:extLst>
          </p:cNvPr>
          <p:cNvSpPr/>
          <p:nvPr/>
        </p:nvSpPr>
        <p:spPr>
          <a:xfrm>
            <a:off x="6424543" y="4067662"/>
            <a:ext cx="1232673" cy="8463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sz="900" b="1" dirty="0">
                <a:solidFill>
                  <a:srgbClr val="5229DD"/>
                </a:solidFill>
                <a:latin typeface=""/>
              </a:rPr>
              <a:t>Мероприятия </a:t>
            </a:r>
          </a:p>
          <a:p>
            <a:pPr algn="ctr"/>
            <a:r>
              <a:rPr lang="en-US" sz="700" dirty="0">
                <a:solidFill>
                  <a:srgbClr val="111111"/>
                </a:solidFill>
              </a:rPr>
              <a:t>Анонсы олимпиад, конкурсов, семинаров для будущих врачей, студентов и работающих специалистов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5BD037C9-4A43-458C-A876-F97463E33FA3}"/>
              </a:ext>
            </a:extLst>
          </p:cNvPr>
          <p:cNvSpPr/>
          <p:nvPr/>
        </p:nvSpPr>
        <p:spPr>
          <a:xfrm>
            <a:off x="4810269" y="3238585"/>
            <a:ext cx="1449685" cy="877163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r">
              <a:spcAft>
                <a:spcPts val="600"/>
              </a:spcAft>
            </a:pPr>
            <a:r>
              <a:rPr lang="ru-RU" sz="900" b="1" dirty="0">
                <a:solidFill>
                  <a:srgbClr val="5229DD"/>
                </a:solidFill>
                <a:latin typeface=""/>
              </a:rPr>
              <a:t>Электронные ресурсы</a:t>
            </a:r>
            <a:endParaRPr lang="ru-RU" sz="900" b="1" dirty="0">
              <a:solidFill>
                <a:srgbClr val="1568E8"/>
              </a:solidFill>
            </a:endParaRPr>
          </a:p>
          <a:p>
            <a:pPr algn="r"/>
            <a:r>
              <a:rPr lang="en-US" sz="700" dirty="0">
                <a:solidFill>
                  <a:srgbClr val="111111"/>
                </a:solidFill>
              </a:rPr>
              <a:t>Информационная база электронных библиотечных систем и других образовательных ресурсов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3B74A4E-2CF4-47D0-9EF7-9ED8880B194D}"/>
              </a:ext>
            </a:extLst>
          </p:cNvPr>
          <p:cNvSpPr/>
          <p:nvPr/>
        </p:nvSpPr>
        <p:spPr>
          <a:xfrm>
            <a:off x="4946828" y="2241882"/>
            <a:ext cx="1232674" cy="8463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r">
              <a:spcAft>
                <a:spcPts val="600"/>
              </a:spcAft>
            </a:pPr>
            <a:r>
              <a:rPr lang="ru-RU" sz="900" b="1" dirty="0">
                <a:solidFill>
                  <a:srgbClr val="5229DD"/>
                </a:solidFill>
                <a:latin typeface=""/>
              </a:rPr>
              <a:t>Наука</a:t>
            </a:r>
            <a:endParaRPr lang="ru-RU" sz="900" b="1" dirty="0">
              <a:solidFill>
                <a:srgbClr val="1568E8"/>
              </a:solidFill>
            </a:endParaRPr>
          </a:p>
          <a:p>
            <a:pPr algn="r">
              <a:spcAft>
                <a:spcPts val="600"/>
              </a:spcAft>
            </a:pPr>
            <a:r>
              <a:rPr lang="en-US" sz="700" dirty="0">
                <a:solidFill>
                  <a:srgbClr val="111111"/>
                </a:solidFill>
              </a:rPr>
              <a:t>Доступ к исследовательским проектам, лабораториям, возможность организовать совместные проекты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5EB317C-8DC5-4048-8BD0-1CD07EDB3FAD}"/>
              </a:ext>
            </a:extLst>
          </p:cNvPr>
          <p:cNvSpPr/>
          <p:nvPr/>
        </p:nvSpPr>
        <p:spPr>
          <a:xfrm>
            <a:off x="4839389" y="1370681"/>
            <a:ext cx="1321795" cy="8463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r">
              <a:spcAft>
                <a:spcPts val="600"/>
              </a:spcAft>
            </a:pPr>
            <a:r>
              <a:rPr lang="ru-RU" sz="900" b="1" dirty="0">
                <a:solidFill>
                  <a:srgbClr val="C00000"/>
                </a:solidFill>
                <a:latin typeface=""/>
              </a:rPr>
              <a:t>Хочу в Мед</a:t>
            </a:r>
            <a:endParaRPr lang="ru-RU" sz="900" b="1" dirty="0">
              <a:solidFill>
                <a:srgbClr val="C00000"/>
              </a:solidFill>
            </a:endParaRPr>
          </a:p>
          <a:p>
            <a:pPr lvl="0" algn="r"/>
            <a:r>
              <a:rPr lang="en-US" sz="700" b="1" dirty="0">
                <a:solidFill>
                  <a:srgbClr val="111111"/>
                </a:solidFill>
              </a:rPr>
              <a:t>Профориентационные события, </a:t>
            </a:r>
            <a:endParaRPr lang="ru-RU" sz="700" b="1" dirty="0">
              <a:solidFill>
                <a:srgbClr val="111111"/>
              </a:solidFill>
            </a:endParaRPr>
          </a:p>
          <a:p>
            <a:pPr lvl="0" algn="r"/>
            <a:r>
              <a:rPr lang="en-US" sz="700" b="1" dirty="0">
                <a:solidFill>
                  <a:srgbClr val="111111"/>
                </a:solidFill>
              </a:rPr>
              <a:t>подготовка к ЕГЭ и ОГЭ, </a:t>
            </a:r>
            <a:endParaRPr lang="ru-RU" sz="700" b="1" dirty="0">
              <a:solidFill>
                <a:srgbClr val="111111"/>
              </a:solidFill>
            </a:endParaRPr>
          </a:p>
          <a:p>
            <a:pPr lvl="0" algn="r"/>
            <a:r>
              <a:rPr lang="en-US" sz="700" b="1" dirty="0">
                <a:solidFill>
                  <a:srgbClr val="111111"/>
                </a:solidFill>
              </a:rPr>
              <a:t>лекции и тесты для медклассов</a:t>
            </a:r>
            <a:endParaRPr lang="ru-RU" sz="700" b="1" dirty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oup 2" descr="preencoded.png">
            <a:extLst>
              <a:ext uri="{FF2B5EF4-FFF2-40B4-BE49-F238E27FC236}">
                <a16:creationId xmlns:a16="http://schemas.microsoft.com/office/drawing/2014/main" id="{AF34E1DB-F5AF-4F00-975B-52F456490E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0800000">
            <a:off x="-490934" y="-1219232"/>
            <a:ext cx="10363611" cy="409415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84632" y="698753"/>
            <a:ext cx="8412480" cy="1796253"/>
          </a:xfrm>
          <a:prstGeom prst="rect">
            <a:avLst/>
          </a:prstGeom>
          <a:solidFill>
            <a:srgbClr val="613CDD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0" y="274320"/>
            <a:ext cx="2560320" cy="2560320"/>
          </a:xfrm>
          <a:prstGeom prst="ellipse">
            <a:avLst/>
          </a:prstGeom>
          <a:solidFill>
            <a:srgbClr val="6B4C9A">
              <a:alpha val="2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822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Дистанционная медицинская школа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31520" y="1371600"/>
            <a:ext cx="54864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08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D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Образовательный инструмент на платформе «Будущий врач»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D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учащихся 9–11 классов медицинских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8D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естественно-научных профилей</a:t>
            </a:r>
            <a:endParaRPr lang="en-US" sz="1100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B0DF50B-DF1F-454F-9D13-0088F6F1AE5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502"/>
          <a:stretch/>
        </p:blipFill>
        <p:spPr>
          <a:xfrm>
            <a:off x="7712932" y="178547"/>
            <a:ext cx="882428" cy="191547"/>
          </a:xfrm>
          <a:prstGeom prst="rect">
            <a:avLst/>
          </a:prstGeom>
        </p:spPr>
      </p:pic>
      <p:sp>
        <p:nvSpPr>
          <p:cNvPr id="31" name="Shape 7">
            <a:extLst>
              <a:ext uri="{FF2B5EF4-FFF2-40B4-BE49-F238E27FC236}">
                <a16:creationId xmlns:a16="http://schemas.microsoft.com/office/drawing/2014/main" id="{C94AE26B-7B25-4D88-98C4-FFABC94E4A64}"/>
              </a:ext>
            </a:extLst>
          </p:cNvPr>
          <p:cNvSpPr/>
          <p:nvPr/>
        </p:nvSpPr>
        <p:spPr>
          <a:xfrm>
            <a:off x="457200" y="3012085"/>
            <a:ext cx="2651760" cy="640080"/>
          </a:xfrm>
          <a:prstGeom prst="rect">
            <a:avLst/>
          </a:prstGeom>
          <a:solidFill>
            <a:srgbClr val="FAFAFE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139CF2CB-4661-4AE4-8545-6C6DE3401BA8}"/>
              </a:ext>
            </a:extLst>
          </p:cNvPr>
          <p:cNvSpPr/>
          <p:nvPr/>
        </p:nvSpPr>
        <p:spPr>
          <a:xfrm>
            <a:off x="457200" y="3012085"/>
            <a:ext cx="36576" cy="640080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F2AF416D-1AD1-42A5-B454-038A56E3AB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176677"/>
            <a:ext cx="256032" cy="256032"/>
          </a:xfrm>
          <a:prstGeom prst="rect">
            <a:avLst/>
          </a:prstGeom>
        </p:spPr>
      </p:pic>
      <p:sp>
        <p:nvSpPr>
          <p:cNvPr id="34" name="Text 9">
            <a:extLst>
              <a:ext uri="{FF2B5EF4-FFF2-40B4-BE49-F238E27FC236}">
                <a16:creationId xmlns:a16="http://schemas.microsoft.com/office/drawing/2014/main" id="{40DE60DE-0BBC-462E-B990-FD2DA1433C22}"/>
              </a:ext>
            </a:extLst>
          </p:cNvPr>
          <p:cNvSpPr/>
          <p:nvPr/>
        </p:nvSpPr>
        <p:spPr>
          <a:xfrm>
            <a:off x="914400" y="3149245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Олимпиадный тренажёр</a:t>
            </a:r>
            <a:endParaRPr lang="en-US" sz="1050" dirty="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EA9A94F3-5790-4430-A6EF-CAE160F20EE9}"/>
              </a:ext>
            </a:extLst>
          </p:cNvPr>
          <p:cNvSpPr/>
          <p:nvPr/>
        </p:nvSpPr>
        <p:spPr>
          <a:xfrm>
            <a:off x="3291840" y="3012085"/>
            <a:ext cx="2651760" cy="640080"/>
          </a:xfrm>
          <a:prstGeom prst="rect">
            <a:avLst/>
          </a:prstGeom>
          <a:solidFill>
            <a:srgbClr val="FAFAFE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EA4F6736-D5E7-4028-816E-02C080AB4FD4}"/>
              </a:ext>
            </a:extLst>
          </p:cNvPr>
          <p:cNvSpPr/>
          <p:nvPr/>
        </p:nvSpPr>
        <p:spPr>
          <a:xfrm>
            <a:off x="3291840" y="3012085"/>
            <a:ext cx="36576" cy="640080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19F79A6A-C061-4A05-BA56-2FA37D0611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176677"/>
            <a:ext cx="256032" cy="256032"/>
          </a:xfrm>
          <a:prstGeom prst="rect">
            <a:avLst/>
          </a:prstGeom>
        </p:spPr>
      </p:pic>
      <p:sp>
        <p:nvSpPr>
          <p:cNvPr id="38" name="Text 12">
            <a:extLst>
              <a:ext uri="{FF2B5EF4-FFF2-40B4-BE49-F238E27FC236}">
                <a16:creationId xmlns:a16="http://schemas.microsoft.com/office/drawing/2014/main" id="{890F29F6-E8DD-4B32-A12C-DD0F02BA1CC7}"/>
              </a:ext>
            </a:extLst>
          </p:cNvPr>
          <p:cNvSpPr/>
          <p:nvPr/>
        </p:nvSpPr>
        <p:spPr>
          <a:xfrm>
            <a:off x="3749040" y="3149245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помощь</a:t>
            </a:r>
            <a:endParaRPr lang="en-US" sz="1050" dirty="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E2E293DD-E914-45C1-80B9-2EB471C70CC0}"/>
              </a:ext>
            </a:extLst>
          </p:cNvPr>
          <p:cNvSpPr/>
          <p:nvPr/>
        </p:nvSpPr>
        <p:spPr>
          <a:xfrm>
            <a:off x="6126480" y="3012085"/>
            <a:ext cx="2651760" cy="640080"/>
          </a:xfrm>
          <a:prstGeom prst="rect">
            <a:avLst/>
          </a:prstGeom>
          <a:solidFill>
            <a:srgbClr val="FAFAFE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C06AED5E-D54F-4D8C-8805-0936F260A287}"/>
              </a:ext>
            </a:extLst>
          </p:cNvPr>
          <p:cNvSpPr/>
          <p:nvPr/>
        </p:nvSpPr>
        <p:spPr>
          <a:xfrm>
            <a:off x="6126480" y="3012085"/>
            <a:ext cx="36576" cy="640080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41" name="Image 3" descr="preencoded.png">
            <a:extLst>
              <a:ext uri="{FF2B5EF4-FFF2-40B4-BE49-F238E27FC236}">
                <a16:creationId xmlns:a16="http://schemas.microsoft.com/office/drawing/2014/main" id="{A5F0C784-E339-454B-9945-6243331219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176677"/>
            <a:ext cx="256032" cy="256032"/>
          </a:xfrm>
          <a:prstGeom prst="rect">
            <a:avLst/>
          </a:prstGeom>
        </p:spPr>
      </p:pic>
      <p:sp>
        <p:nvSpPr>
          <p:cNvPr id="42" name="Text 15">
            <a:extLst>
              <a:ext uri="{FF2B5EF4-FFF2-40B4-BE49-F238E27FC236}">
                <a16:creationId xmlns:a16="http://schemas.microsoft.com/office/drawing/2014/main" id="{53451A23-5073-42FE-8EC2-E0923C721A69}"/>
              </a:ext>
            </a:extLst>
          </p:cNvPr>
          <p:cNvSpPr/>
          <p:nvPr/>
        </p:nvSpPr>
        <p:spPr>
          <a:xfrm>
            <a:off x="6583680" y="3149245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Медицинский Атлас</a:t>
            </a:r>
            <a:endParaRPr lang="en-US" sz="1050" dirty="0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453DADEF-8F05-4F31-B692-F55DA6C7FEFF}"/>
              </a:ext>
            </a:extLst>
          </p:cNvPr>
          <p:cNvSpPr/>
          <p:nvPr/>
        </p:nvSpPr>
        <p:spPr>
          <a:xfrm>
            <a:off x="457200" y="3835045"/>
            <a:ext cx="2651760" cy="640080"/>
          </a:xfrm>
          <a:prstGeom prst="rect">
            <a:avLst/>
          </a:prstGeom>
          <a:solidFill>
            <a:srgbClr val="FAFAFE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297643B3-DF19-4B98-A2F7-B6970B3958A1}"/>
              </a:ext>
            </a:extLst>
          </p:cNvPr>
          <p:cNvSpPr/>
          <p:nvPr/>
        </p:nvSpPr>
        <p:spPr>
          <a:xfrm>
            <a:off x="457200" y="3835045"/>
            <a:ext cx="36576" cy="640080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45" name="Image 4" descr="preencoded.png">
            <a:extLst>
              <a:ext uri="{FF2B5EF4-FFF2-40B4-BE49-F238E27FC236}">
                <a16:creationId xmlns:a16="http://schemas.microsoft.com/office/drawing/2014/main" id="{9F33DC11-AA2F-4B96-9669-342A4F27E8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3999637"/>
            <a:ext cx="256032" cy="256032"/>
          </a:xfrm>
          <a:prstGeom prst="rect">
            <a:avLst/>
          </a:prstGeom>
        </p:spPr>
      </p:pic>
      <p:sp>
        <p:nvSpPr>
          <p:cNvPr id="46" name="Text 18">
            <a:extLst>
              <a:ext uri="{FF2B5EF4-FFF2-40B4-BE49-F238E27FC236}">
                <a16:creationId xmlns:a16="http://schemas.microsoft.com/office/drawing/2014/main" id="{8E0BCA55-8DC3-4964-864D-38877AD29F13}"/>
              </a:ext>
            </a:extLst>
          </p:cNvPr>
          <p:cNvSpPr/>
          <p:nvPr/>
        </p:nvSpPr>
        <p:spPr>
          <a:xfrm>
            <a:off x="914400" y="3972205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к ЕГЭ</a:t>
            </a:r>
            <a:endParaRPr lang="en-US" sz="1050" dirty="0"/>
          </a:p>
        </p:txBody>
      </p:sp>
      <p:sp>
        <p:nvSpPr>
          <p:cNvPr id="47" name="Shape 19">
            <a:extLst>
              <a:ext uri="{FF2B5EF4-FFF2-40B4-BE49-F238E27FC236}">
                <a16:creationId xmlns:a16="http://schemas.microsoft.com/office/drawing/2014/main" id="{C231E9F4-0B89-4393-BEB8-729FA7C5F199}"/>
              </a:ext>
            </a:extLst>
          </p:cNvPr>
          <p:cNvSpPr/>
          <p:nvPr/>
        </p:nvSpPr>
        <p:spPr>
          <a:xfrm>
            <a:off x="3291840" y="3835045"/>
            <a:ext cx="2651760" cy="640080"/>
          </a:xfrm>
          <a:prstGeom prst="rect">
            <a:avLst/>
          </a:prstGeom>
          <a:solidFill>
            <a:srgbClr val="FAFAFE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20">
            <a:extLst>
              <a:ext uri="{FF2B5EF4-FFF2-40B4-BE49-F238E27FC236}">
                <a16:creationId xmlns:a16="http://schemas.microsoft.com/office/drawing/2014/main" id="{4A57C3FC-726F-4E22-9AF0-420AC1E92025}"/>
              </a:ext>
            </a:extLst>
          </p:cNvPr>
          <p:cNvSpPr/>
          <p:nvPr/>
        </p:nvSpPr>
        <p:spPr>
          <a:xfrm>
            <a:off x="3291840" y="3835045"/>
            <a:ext cx="36576" cy="640080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49" name="Image 5" descr="preencoded.png">
            <a:extLst>
              <a:ext uri="{FF2B5EF4-FFF2-40B4-BE49-F238E27FC236}">
                <a16:creationId xmlns:a16="http://schemas.microsoft.com/office/drawing/2014/main" id="{35F76DDC-A04E-4316-9ABB-CC0426203F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3999637"/>
            <a:ext cx="256032" cy="256032"/>
          </a:xfrm>
          <a:prstGeom prst="rect">
            <a:avLst/>
          </a:prstGeom>
        </p:spPr>
      </p:pic>
      <p:sp>
        <p:nvSpPr>
          <p:cNvPr id="50" name="Text 21">
            <a:extLst>
              <a:ext uri="{FF2B5EF4-FFF2-40B4-BE49-F238E27FC236}">
                <a16:creationId xmlns:a16="http://schemas.microsoft.com/office/drawing/2014/main" id="{2A6D8BD3-820B-4149-AE10-4EAFD0188A83}"/>
              </a:ext>
            </a:extLst>
          </p:cNvPr>
          <p:cNvSpPr/>
          <p:nvPr/>
        </p:nvSpPr>
        <p:spPr>
          <a:xfrm>
            <a:off x="3749040" y="3972205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Профориентация</a:t>
            </a:r>
            <a:endParaRPr lang="en-US" sz="1050" dirty="0"/>
          </a:p>
        </p:txBody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1781C402-3D71-473D-8AB7-550764393E2B}"/>
              </a:ext>
            </a:extLst>
          </p:cNvPr>
          <p:cNvSpPr/>
          <p:nvPr/>
        </p:nvSpPr>
        <p:spPr>
          <a:xfrm>
            <a:off x="6126480" y="3835045"/>
            <a:ext cx="2651760" cy="640080"/>
          </a:xfrm>
          <a:prstGeom prst="rect">
            <a:avLst/>
          </a:prstGeom>
          <a:solidFill>
            <a:srgbClr val="FAFAFE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56441551-B685-4FD6-9E72-E0EB692BC1C2}"/>
              </a:ext>
            </a:extLst>
          </p:cNvPr>
          <p:cNvSpPr/>
          <p:nvPr/>
        </p:nvSpPr>
        <p:spPr>
          <a:xfrm>
            <a:off x="6126480" y="3835045"/>
            <a:ext cx="36576" cy="640080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53" name="Image 6" descr="preencoded.png">
            <a:extLst>
              <a:ext uri="{FF2B5EF4-FFF2-40B4-BE49-F238E27FC236}">
                <a16:creationId xmlns:a16="http://schemas.microsoft.com/office/drawing/2014/main" id="{35B856DC-EECE-459C-A102-FC7A1C83F9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640" y="3999637"/>
            <a:ext cx="256032" cy="256032"/>
          </a:xfrm>
          <a:prstGeom prst="rect">
            <a:avLst/>
          </a:prstGeom>
        </p:spPr>
      </p:pic>
      <p:sp>
        <p:nvSpPr>
          <p:cNvPr id="54" name="Text 24">
            <a:extLst>
              <a:ext uri="{FF2B5EF4-FFF2-40B4-BE49-F238E27FC236}">
                <a16:creationId xmlns:a16="http://schemas.microsoft.com/office/drawing/2014/main" id="{E50FC36D-D5DB-47D7-A80F-6FF30BB5DF11}"/>
              </a:ext>
            </a:extLst>
          </p:cNvPr>
          <p:cNvSpPr/>
          <p:nvPr/>
        </p:nvSpPr>
        <p:spPr>
          <a:xfrm>
            <a:off x="6583680" y="3972205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</a:t>
            </a:r>
            <a:r>
              <a:rPr lang="ru-RU" sz="10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 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roup 2" descr="preencoded.png">
            <a:extLst>
              <a:ext uri="{FF2B5EF4-FFF2-40B4-BE49-F238E27FC236}">
                <a16:creationId xmlns:a16="http://schemas.microsoft.com/office/drawing/2014/main" id="{0B5CDAB0-DCDD-4D77-8A1A-29DD81D621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9806" y="2514245"/>
            <a:ext cx="10363611" cy="4094157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4754880" y="1571236"/>
            <a:ext cx="4023360" cy="27066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14141" y="1591056"/>
            <a:ext cx="4023360" cy="27066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314141" y="4983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Что даёт ДМШ?</a:t>
            </a:r>
            <a:endParaRPr lang="en-US" sz="1700" dirty="0">
              <a:solidFill>
                <a:srgbClr val="5229DD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932688"/>
            <a:ext cx="457200" cy="18288"/>
          </a:xfrm>
          <a:prstGeom prst="rect">
            <a:avLst/>
          </a:prstGeom>
          <a:solidFill>
            <a:srgbClr val="E8DAEF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solidFill>
            <a:srgbClr val="613CDD"/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14" y="1099603"/>
            <a:ext cx="269674" cy="2696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8818" y="112500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Школе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84" y="1668780"/>
            <a:ext cx="155448" cy="1554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контент для медкласса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107692"/>
            <a:ext cx="155448" cy="1554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7240" y="19933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Объективный отбор в профильный класс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546604"/>
            <a:ext cx="155448" cy="15544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7240" y="24323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Автоматическая аналитика и отчётность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2985516"/>
            <a:ext cx="155448" cy="15544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77240" y="28712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Партнёрство с ПИМУ</a:t>
            </a:r>
            <a:endParaRPr lang="en-US" sz="11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424428"/>
            <a:ext cx="155448" cy="15544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77240" y="33101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Дополнительные курсы для подготовки к ЕГЭ</a:t>
            </a:r>
            <a:endParaRPr lang="en-US" sz="11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3863340"/>
            <a:ext cx="155448" cy="15544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77240" y="37490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педагогов первой помощи</a:t>
            </a:r>
            <a:endParaRPr lang="en-US" sz="1100" dirty="0"/>
          </a:p>
        </p:txBody>
      </p:sp>
      <p:sp>
        <p:nvSpPr>
          <p:cNvPr id="23" name="Shape 13"/>
          <p:cNvSpPr/>
          <p:nvPr/>
        </p:nvSpPr>
        <p:spPr>
          <a:xfrm>
            <a:off x="4754880" y="1097280"/>
            <a:ext cx="4023360" cy="320040"/>
          </a:xfrm>
          <a:prstGeom prst="rect">
            <a:avLst/>
          </a:prstGeom>
          <a:solidFill>
            <a:srgbClr val="613CDD"/>
          </a:solidFill>
          <a:ln/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1133856"/>
            <a:ext cx="228600" cy="2286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257800" y="113798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Ученику</a:t>
            </a:r>
            <a:endParaRPr lang="en-US" sz="14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1861" y="1668780"/>
            <a:ext cx="155448" cy="15544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166360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Олимпиадный тренажёр (Био, Хим, Анат)</a:t>
            </a:r>
            <a:endParaRPr lang="en-US" sz="11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1861" y="2107692"/>
            <a:ext cx="155448" cy="15544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166360" y="19933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первой помощи с сертификатом</a:t>
            </a:r>
            <a:endParaRPr lang="en-US" sz="11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31861" y="2546604"/>
            <a:ext cx="155448" cy="15544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166360" y="24597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Медицинский</a:t>
            </a: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Атлас</a:t>
            </a:r>
            <a:endParaRPr lang="en-US" sz="110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1861" y="2985516"/>
            <a:ext cx="155448" cy="155448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5166360" y="28712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Дополнительные баллы </a:t>
            </a:r>
            <a:r>
              <a:rPr lang="en-US" sz="1100" dirty="0" err="1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</a:t>
            </a: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поступлении</a:t>
            </a:r>
            <a:r>
              <a:rPr lang="ru-RU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31861" y="3424428"/>
            <a:ext cx="155448" cy="155448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5166360" y="33101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Портфолио достижений</a:t>
            </a:r>
            <a:endParaRPr lang="en-US" sz="1100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86153F2D-DC8B-4E79-A27E-7F87035DD76C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1502"/>
          <a:stretch/>
        </p:blipFill>
        <p:spPr>
          <a:xfrm>
            <a:off x="7712932" y="178547"/>
            <a:ext cx="882428" cy="1915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23"/>
          <p:cNvSpPr/>
          <p:nvPr/>
        </p:nvSpPr>
        <p:spPr>
          <a:xfrm>
            <a:off x="3200400" y="3063240"/>
            <a:ext cx="2697480" cy="1783080"/>
          </a:xfrm>
          <a:prstGeom prst="rect">
            <a:avLst/>
          </a:prstGeom>
          <a:solidFill>
            <a:srgbClr val="FAFAFE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Shape 28"/>
          <p:cNvSpPr/>
          <p:nvPr/>
        </p:nvSpPr>
        <p:spPr>
          <a:xfrm>
            <a:off x="6080760" y="3063240"/>
            <a:ext cx="2697480" cy="1783080"/>
          </a:xfrm>
          <a:prstGeom prst="rect">
            <a:avLst/>
          </a:prstGeom>
          <a:solidFill>
            <a:srgbClr val="FAFAFE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320040" y="3063240"/>
            <a:ext cx="2697480" cy="1783080"/>
          </a:xfrm>
          <a:prstGeom prst="rect">
            <a:avLst/>
          </a:prstGeom>
          <a:solidFill>
            <a:srgbClr val="FAFAFE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6080760" y="1097280"/>
            <a:ext cx="2697480" cy="1783080"/>
          </a:xfrm>
          <a:prstGeom prst="rect">
            <a:avLst/>
          </a:prstGeom>
          <a:solidFill>
            <a:srgbClr val="FAFAFE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200400" y="1097280"/>
            <a:ext cx="2697480" cy="1783080"/>
          </a:xfrm>
          <a:prstGeom prst="rect">
            <a:avLst/>
          </a:prstGeom>
          <a:solidFill>
            <a:srgbClr val="FAFAFE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97280"/>
            <a:ext cx="2697480" cy="1783080"/>
          </a:xfrm>
          <a:prstGeom prst="rect">
            <a:avLst/>
          </a:prstGeom>
          <a:solidFill>
            <a:srgbClr val="FAFAFE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320040" y="431153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Что </a:t>
            </a:r>
            <a:r>
              <a:rPr lang="en-US" sz="1700" b="1" dirty="0" err="1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внутри</a:t>
            </a:r>
            <a:r>
              <a:rPr lang="en-US" sz="17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 ДМШ</a:t>
            </a:r>
            <a:r>
              <a:rPr lang="ru-RU" sz="17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>
              <a:solidFill>
                <a:srgbClr val="5229DD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20040" y="1097280"/>
            <a:ext cx="2697480" cy="32004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3444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1234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Профориентация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40080" y="1805940"/>
            <a:ext cx="1214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Энциклопедия медицинских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специальностей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7587" y="1554480"/>
            <a:ext cx="1083564" cy="108356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200400" y="1097280"/>
            <a:ext cx="2697480" cy="32004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1234440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66160" y="1234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Видеолекции и тесты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3448610" y="1847382"/>
            <a:ext cx="107221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Курсы для 9, 10 и 11 </a:t>
            </a:r>
            <a:r>
              <a:rPr lang="en-US" sz="85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классов</a:t>
            </a: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биологии, химии, анатомии</a:t>
            </a:r>
            <a:endParaRPr lang="en-US" sz="850" dirty="0"/>
          </a:p>
        </p:txBody>
      </p:sp>
      <p:sp>
        <p:nvSpPr>
          <p:cNvPr id="21" name="Shape 14"/>
          <p:cNvSpPr/>
          <p:nvPr/>
        </p:nvSpPr>
        <p:spPr>
          <a:xfrm>
            <a:off x="6080760" y="1097280"/>
            <a:ext cx="2697480" cy="32004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234440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446520" y="1234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Олимпиадный тренажёр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6446520" y="187267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Олимпиадные з</a:t>
            </a:r>
            <a:r>
              <a:rPr lang="en-US" sz="85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адачи</a:t>
            </a: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прошлых</a:t>
            </a: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ru-RU" sz="85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</a:t>
            </a:r>
            <a:r>
              <a:rPr lang="en-US" sz="85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ет</a:t>
            </a: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разборами</a:t>
            </a:r>
            <a:endParaRPr lang="en-US" sz="8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4916" y="1640996"/>
            <a:ext cx="1061884" cy="1061884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320040" y="3063240"/>
            <a:ext cx="2697480" cy="32004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3200400"/>
            <a:ext cx="219456" cy="21945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85800" y="3200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Медицинский Атлас</a:t>
            </a:r>
            <a:endParaRPr lang="en-US" sz="1050" dirty="0"/>
          </a:p>
        </p:txBody>
      </p:sp>
      <p:sp>
        <p:nvSpPr>
          <p:cNvPr id="31" name="Text 21"/>
          <p:cNvSpPr/>
          <p:nvPr/>
        </p:nvSpPr>
        <p:spPr>
          <a:xfrm>
            <a:off x="432128" y="379402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Интерактивный атлас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медицинских изображений</a:t>
            </a:r>
            <a:endParaRPr lang="en-US" sz="85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1426" y="3520440"/>
            <a:ext cx="1132676" cy="1132676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3200400" y="3063240"/>
            <a:ext cx="2697480" cy="3200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1840" y="3200400"/>
            <a:ext cx="219456" cy="219456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3566160" y="3200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помощь и ЗОЖ</a:t>
            </a:r>
            <a:endParaRPr lang="en-US" sz="1050" dirty="0"/>
          </a:p>
        </p:txBody>
      </p:sp>
      <p:sp>
        <p:nvSpPr>
          <p:cNvPr id="38" name="Text 26"/>
          <p:cNvSpPr/>
          <p:nvPr/>
        </p:nvSpPr>
        <p:spPr>
          <a:xfrm>
            <a:off x="3374431" y="3794022"/>
            <a:ext cx="11975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Видеокурс по оказанию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первой помощи и </a:t>
            </a:r>
            <a:r>
              <a:rPr lang="ru-RU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лекции по </a:t>
            </a: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ЗОЖ</a:t>
            </a:r>
            <a:endParaRPr lang="en-US" sz="85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5444" y="3578991"/>
            <a:ext cx="1065276" cy="1065276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6080760" y="3063240"/>
            <a:ext cx="2697480" cy="32004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3200400"/>
            <a:ext cx="219456" cy="219456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6446520" y="3200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 для педагогов</a:t>
            </a:r>
            <a:endParaRPr lang="en-US" sz="1050" dirty="0"/>
          </a:p>
        </p:txBody>
      </p:sp>
      <p:sp>
        <p:nvSpPr>
          <p:cNvPr id="45" name="Text 31"/>
          <p:cNvSpPr/>
          <p:nvPr/>
        </p:nvSpPr>
        <p:spPr>
          <a:xfrm>
            <a:off x="6296087" y="37719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Лекции и презентации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преподавателей</a:t>
            </a:r>
            <a:endParaRPr lang="en-US" sz="850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15714" y="3607545"/>
            <a:ext cx="1071085" cy="1071085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3B99E5EE-BE81-45B0-B501-B1383E24E90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1502"/>
          <a:stretch/>
        </p:blipFill>
        <p:spPr>
          <a:xfrm>
            <a:off x="7712932" y="178547"/>
            <a:ext cx="882428" cy="191547"/>
          </a:xfrm>
          <a:prstGeom prst="rect">
            <a:avLst/>
          </a:prstGeom>
        </p:spPr>
      </p:pic>
      <p:sp>
        <p:nvSpPr>
          <p:cNvPr id="52" name="Shape 2">
            <a:extLst>
              <a:ext uri="{FF2B5EF4-FFF2-40B4-BE49-F238E27FC236}">
                <a16:creationId xmlns:a16="http://schemas.microsoft.com/office/drawing/2014/main" id="{6B50332E-E23A-4283-B263-96541C4063A1}"/>
              </a:ext>
            </a:extLst>
          </p:cNvPr>
          <p:cNvSpPr/>
          <p:nvPr/>
        </p:nvSpPr>
        <p:spPr>
          <a:xfrm>
            <a:off x="548640" y="932688"/>
            <a:ext cx="457200" cy="18288"/>
          </a:xfrm>
          <a:prstGeom prst="rect">
            <a:avLst/>
          </a:prstGeom>
          <a:solidFill>
            <a:srgbClr val="E8DAEF"/>
          </a:solidFill>
          <a:ln/>
        </p:spPr>
      </p:sp>
      <p:pic>
        <p:nvPicPr>
          <p:cNvPr id="54" name="Image 10" descr="preencoded.png">
            <a:extLst>
              <a:ext uri="{FF2B5EF4-FFF2-40B4-BE49-F238E27FC236}">
                <a16:creationId xmlns:a16="http://schemas.microsoft.com/office/drawing/2014/main" id="{C1F91343-1555-458F-818C-2473E8507D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1488" y="1598357"/>
            <a:ext cx="1065276" cy="10652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B4C9A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452481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Как</a:t>
            </a:r>
            <a:r>
              <a:rPr lang="en-US" sz="17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работает</a:t>
            </a:r>
            <a:r>
              <a:rPr lang="ru-RU" sz="17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 ДМШ</a:t>
            </a:r>
            <a:r>
              <a:rPr lang="en-US" sz="17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>
              <a:solidFill>
                <a:srgbClr val="5229DD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75488" y="10881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Профили педагога и ученика на платформе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5488" y="1563624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" y="1563624"/>
            <a:ext cx="4023360" cy="365760"/>
          </a:xfrm>
          <a:prstGeom prst="rect">
            <a:avLst/>
          </a:prstGeom>
          <a:solidFill>
            <a:srgbClr val="5229DD"/>
          </a:solidFill>
          <a:ln/>
        </p:spPr>
      </p:sp>
      <p:sp>
        <p:nvSpPr>
          <p:cNvPr id="8" name="Shape 5"/>
          <p:cNvSpPr/>
          <p:nvPr/>
        </p:nvSpPr>
        <p:spPr>
          <a:xfrm>
            <a:off x="585216" y="1490472"/>
            <a:ext cx="475488" cy="475488"/>
          </a:xfrm>
          <a:prstGeom prst="ellipse">
            <a:avLst/>
          </a:prstGeom>
          <a:solidFill>
            <a:srgbClr val="4A307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9105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61288" y="1581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Педагог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148840"/>
            <a:ext cx="155448" cy="1554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6968" y="21122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Зачисление учеников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распределение по группам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651760"/>
            <a:ext cx="155448" cy="1554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86968" y="26151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Отслеживание прогресса: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темы, средний балл, отставание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154680"/>
            <a:ext cx="155448" cy="1554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86968" y="31181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Автоматическая проверка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тестовых заданий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57600"/>
            <a:ext cx="155448" cy="15544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86968" y="36210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Выгрузка отчётов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 успеваемости класса</a:t>
            </a:r>
            <a:endParaRPr lang="en-US" sz="11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60520"/>
            <a:ext cx="155448" cy="15544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86968" y="41239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аналитике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личного кабинета школы</a:t>
            </a:r>
            <a:endParaRPr lang="en-US" sz="1100" dirty="0"/>
          </a:p>
        </p:txBody>
      </p:sp>
      <p:sp>
        <p:nvSpPr>
          <p:cNvPr id="21" name="Shape 12"/>
          <p:cNvSpPr/>
          <p:nvPr/>
        </p:nvSpPr>
        <p:spPr>
          <a:xfrm>
            <a:off x="4864608" y="1563624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13"/>
          <p:cNvSpPr/>
          <p:nvPr/>
        </p:nvSpPr>
        <p:spPr>
          <a:xfrm>
            <a:off x="4864608" y="1563624"/>
            <a:ext cx="4023360" cy="365760"/>
          </a:xfrm>
          <a:prstGeom prst="rect">
            <a:avLst/>
          </a:prstGeom>
          <a:solidFill>
            <a:srgbClr val="5229DD"/>
          </a:solidFill>
          <a:ln/>
        </p:spPr>
      </p:sp>
      <p:sp>
        <p:nvSpPr>
          <p:cNvPr id="23" name="Shape 14"/>
          <p:cNvSpPr/>
          <p:nvPr/>
        </p:nvSpPr>
        <p:spPr>
          <a:xfrm>
            <a:off x="4974336" y="1490472"/>
            <a:ext cx="475488" cy="475488"/>
          </a:xfrm>
          <a:prstGeom prst="ellipse">
            <a:avLst/>
          </a:prstGeom>
          <a:solidFill>
            <a:srgbClr val="6B4C9A"/>
          </a:solidFill>
          <a:ln/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591056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550408" y="1581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Ученик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148840"/>
            <a:ext cx="155448" cy="15544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276088" y="21122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ко всем модулям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курса из одного кабинета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651760"/>
            <a:ext cx="155448" cy="15544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276088" y="26151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Учёт личного прогресса: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темы, баллы, зоны роста</a:t>
            </a:r>
            <a:endParaRPr lang="en-US" sz="11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154680"/>
            <a:ext cx="155448" cy="15544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276088" y="31181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Автопроверка тестов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разбором ошибок</a:t>
            </a:r>
            <a:endParaRPr lang="en-US" sz="11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657600"/>
            <a:ext cx="155448" cy="15544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276088" y="36210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Медицинскому Атласу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дополнительной авторизации</a:t>
            </a:r>
            <a:endParaRPr lang="en-US" sz="110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4160520"/>
            <a:ext cx="155448" cy="155448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5276088" y="41239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Уведомления и техническая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</a:t>
            </a:r>
            <a:endParaRPr lang="en-US" sz="1100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41F3479-7E2F-4D88-9B3A-2DF301D97D1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502"/>
          <a:stretch/>
        </p:blipFill>
        <p:spPr>
          <a:xfrm>
            <a:off x="7712932" y="178547"/>
            <a:ext cx="882428" cy="191547"/>
          </a:xfrm>
          <a:prstGeom prst="rect">
            <a:avLst/>
          </a:prstGeom>
        </p:spPr>
      </p:pic>
      <p:sp>
        <p:nvSpPr>
          <p:cNvPr id="38" name="Shape 2">
            <a:extLst>
              <a:ext uri="{FF2B5EF4-FFF2-40B4-BE49-F238E27FC236}">
                <a16:creationId xmlns:a16="http://schemas.microsoft.com/office/drawing/2014/main" id="{D7501C80-9219-4F2B-94DF-97CA62E16DB5}"/>
              </a:ext>
            </a:extLst>
          </p:cNvPr>
          <p:cNvSpPr/>
          <p:nvPr/>
        </p:nvSpPr>
        <p:spPr>
          <a:xfrm>
            <a:off x="548640" y="932688"/>
            <a:ext cx="457200" cy="18288"/>
          </a:xfrm>
          <a:prstGeom prst="rect">
            <a:avLst/>
          </a:prstGeom>
          <a:solidFill>
            <a:srgbClr val="E8DAEF"/>
          </a:solidFill>
          <a:ln/>
        </p:spPr>
      </p:sp>
      <p:pic>
        <p:nvPicPr>
          <p:cNvPr id="39" name="Group 2" descr="preencoded.png">
            <a:extLst>
              <a:ext uri="{FF2B5EF4-FFF2-40B4-BE49-F238E27FC236}">
                <a16:creationId xmlns:a16="http://schemas.microsoft.com/office/drawing/2014/main" id="{7F9D969C-36F3-4B1D-99A9-7F7C58BAC74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 rot="16200000">
            <a:off x="3212386" y="-757775"/>
            <a:ext cx="10363611" cy="40941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B4C9A"/>
          </a:solidFill>
          <a:ln/>
        </p:spPr>
      </p:sp>
      <p:sp>
        <p:nvSpPr>
          <p:cNvPr id="4" name="Text 1"/>
          <p:cNvSpPr/>
          <p:nvPr/>
        </p:nvSpPr>
        <p:spPr>
          <a:xfrm>
            <a:off x="320040" y="46153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Что </a:t>
            </a:r>
            <a:r>
              <a:rPr lang="en-US" sz="1700" b="1" dirty="0" err="1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получают</a:t>
            </a:r>
            <a:r>
              <a:rPr lang="en-US" sz="17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школы</a:t>
            </a:r>
            <a:r>
              <a:rPr lang="ru-RU" sz="17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>
              <a:solidFill>
                <a:srgbClr val="5229DD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932688"/>
            <a:ext cx="457200" cy="18288"/>
          </a:xfrm>
          <a:prstGeom prst="rect">
            <a:avLst/>
          </a:prstGeom>
          <a:solidFill>
            <a:srgbClr val="E8DAEF"/>
          </a:solidFill>
          <a:ln/>
        </p:spPr>
      </p:sp>
      <p:sp>
        <p:nvSpPr>
          <p:cNvPr id="6" name="Shape 3"/>
          <p:cNvSpPr/>
          <p:nvPr/>
        </p:nvSpPr>
        <p:spPr>
          <a:xfrm>
            <a:off x="320040" y="1097280"/>
            <a:ext cx="4206240" cy="1078992"/>
          </a:xfrm>
          <a:prstGeom prst="rect">
            <a:avLst/>
          </a:prstGeom>
          <a:solidFill>
            <a:srgbClr val="F3EA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70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207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образовательный контент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1572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Структурированные учебные материалы от ведущего медицинского университета для профильных классов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20040" y="2331720"/>
            <a:ext cx="4206240" cy="1078992"/>
          </a:xfrm>
          <a:prstGeom prst="rect">
            <a:avLst/>
          </a:prstGeom>
          <a:solidFill>
            <a:srgbClr val="EAF0FA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4144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60" y="2441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Партнёрство с медицинским вузом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457200" y="2807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Официальное сотрудничество с университетом — экспертиза, статус и возможности для учеников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4709160" y="2331720"/>
            <a:ext cx="4206240" cy="1078992"/>
          </a:xfrm>
          <a:prstGeom prst="rect">
            <a:avLst/>
          </a:prstGeom>
          <a:solidFill>
            <a:srgbClr val="FFF2CC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441448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12080" y="2441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учеников к поступлению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4846320" y="2807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Олимпиадная подготовка, профориентация, сертификация и формирование портфолио достижений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4709160" y="3566160"/>
            <a:ext cx="4206240" cy="1078992"/>
          </a:xfrm>
          <a:prstGeom prst="rect">
            <a:avLst/>
          </a:prstGeom>
          <a:solidFill>
            <a:srgbClr val="F3EA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675888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12080" y="3675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Вовлечение учеников и родителей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4846320" y="4041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Прозрачная система прогресса, видимые результаты и мотивация через достижения</a:t>
            </a:r>
            <a:endParaRPr lang="en-US" sz="90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A67AAC3-D720-4C7C-AC05-6E17A6C0003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502"/>
          <a:stretch/>
        </p:blipFill>
        <p:spPr>
          <a:xfrm>
            <a:off x="7712932" y="178547"/>
            <a:ext cx="882428" cy="191547"/>
          </a:xfrm>
          <a:prstGeom prst="rect">
            <a:avLst/>
          </a:prstGeom>
        </p:spPr>
      </p:pic>
      <p:pic>
        <p:nvPicPr>
          <p:cNvPr id="33" name="Group 2" descr="preencoded.png">
            <a:extLst>
              <a:ext uri="{FF2B5EF4-FFF2-40B4-BE49-F238E27FC236}">
                <a16:creationId xmlns:a16="http://schemas.microsoft.com/office/drawing/2014/main" id="{B056DF7D-FF45-4577-A960-B61F8619A11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-1219611" y="2267712"/>
            <a:ext cx="10363611" cy="4094157"/>
          </a:xfrm>
          <a:prstGeom prst="rect">
            <a:avLst/>
          </a:prstGeom>
        </p:spPr>
      </p:pic>
      <p:pic>
        <p:nvPicPr>
          <p:cNvPr id="34" name="Group 2" descr="preencoded.png">
            <a:extLst>
              <a:ext uri="{FF2B5EF4-FFF2-40B4-BE49-F238E27FC236}">
                <a16:creationId xmlns:a16="http://schemas.microsoft.com/office/drawing/2014/main" id="{0F53EEA8-A43E-45EB-8195-A76B15911BD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 rot="10800000">
            <a:off x="1097280" y="-1096103"/>
            <a:ext cx="10363611" cy="40941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3520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Планы развития ДМШ</a:t>
            </a:r>
            <a:endParaRPr lang="en-US" sz="1700" dirty="0">
              <a:solidFill>
                <a:srgbClr val="5229DD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932688"/>
            <a:ext cx="457200" cy="18288"/>
          </a:xfrm>
          <a:prstGeom prst="rect">
            <a:avLst/>
          </a:prstGeom>
          <a:solidFill>
            <a:srgbClr val="E8DAEF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972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097280"/>
            <a:ext cx="36576" cy="566928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20700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1521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Методические материалы для педагогов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097280" y="13898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 по интеграции ДМШ в учебный процесс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48640" y="17830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1783080"/>
            <a:ext cx="36576" cy="566928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89280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18379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Диагностическое тестирование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097280" y="20756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Стандартизированный инструмент для отбора в профильные классы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48640" y="24688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48640" y="2468880"/>
            <a:ext cx="36576" cy="566928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57860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2523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Видеоразборы ЕГЭ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097280" y="27614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Детальный разбор заданий от экспертов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48640" y="31546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48640" y="3154680"/>
            <a:ext cx="36576" cy="566928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26440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97280" y="32095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ИИ-инструменты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1097280" y="34472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Персонализация обучения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548640" y="38404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48640" y="3840480"/>
            <a:ext cx="36576" cy="566928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3950208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97280" y="38953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Курсы повышения квалификации для педагогов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1097280" y="41330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Программы обучения с выдачей удостоверений</a:t>
            </a:r>
            <a:endParaRPr lang="en-US" sz="950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12946724-4D07-4A4E-A0CB-101F6FC0626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502"/>
          <a:stretch/>
        </p:blipFill>
        <p:spPr>
          <a:xfrm>
            <a:off x="7712932" y="178547"/>
            <a:ext cx="882428" cy="191547"/>
          </a:xfrm>
          <a:prstGeom prst="rect">
            <a:avLst/>
          </a:prstGeom>
        </p:spPr>
      </p:pic>
      <p:pic>
        <p:nvPicPr>
          <p:cNvPr id="33" name="Group 2" descr="preencoded.png">
            <a:extLst>
              <a:ext uri="{FF2B5EF4-FFF2-40B4-BE49-F238E27FC236}">
                <a16:creationId xmlns:a16="http://schemas.microsoft.com/office/drawing/2014/main" id="{C1AEBF25-C6A9-41AF-A3F0-F8295451B9B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 rot="16200000">
            <a:off x="3324469" y="-757775"/>
            <a:ext cx="10363611" cy="40941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B4C9A"/>
          </a:solidFill>
          <a:ln/>
        </p:spPr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A67AAC3-D720-4C7C-AC05-6E17A6C000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02"/>
          <a:stretch/>
        </p:blipFill>
        <p:spPr>
          <a:xfrm>
            <a:off x="7712932" y="178547"/>
            <a:ext cx="882428" cy="191547"/>
          </a:xfrm>
          <a:prstGeom prst="rect">
            <a:avLst/>
          </a:prstGeom>
        </p:spPr>
      </p:pic>
      <p:pic>
        <p:nvPicPr>
          <p:cNvPr id="33" name="Group 2" descr="preencoded.png">
            <a:extLst>
              <a:ext uri="{FF2B5EF4-FFF2-40B4-BE49-F238E27FC236}">
                <a16:creationId xmlns:a16="http://schemas.microsoft.com/office/drawing/2014/main" id="{B056DF7D-FF45-4577-A960-B61F8619A1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-1219611" y="2267712"/>
            <a:ext cx="10363611" cy="4094157"/>
          </a:xfrm>
          <a:prstGeom prst="rect">
            <a:avLst/>
          </a:prstGeom>
        </p:spPr>
      </p:pic>
      <p:pic>
        <p:nvPicPr>
          <p:cNvPr id="34" name="Group 2" descr="preencoded.png">
            <a:extLst>
              <a:ext uri="{FF2B5EF4-FFF2-40B4-BE49-F238E27FC236}">
                <a16:creationId xmlns:a16="http://schemas.microsoft.com/office/drawing/2014/main" id="{0F53EEA8-A43E-45EB-8195-A76B15911B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rot="10800000">
            <a:off x="1097280" y="-1096103"/>
            <a:ext cx="10363611" cy="4094157"/>
          </a:xfrm>
          <a:prstGeom prst="rect">
            <a:avLst/>
          </a:prstGeom>
        </p:spPr>
      </p:pic>
      <p:sp>
        <p:nvSpPr>
          <p:cNvPr id="24" name="Shape 2">
            <a:extLst>
              <a:ext uri="{FF2B5EF4-FFF2-40B4-BE49-F238E27FC236}">
                <a16:creationId xmlns:a16="http://schemas.microsoft.com/office/drawing/2014/main" id="{7C53472B-8115-4C27-8D77-B9B0B58BF9D5}"/>
              </a:ext>
            </a:extLst>
          </p:cNvPr>
          <p:cNvSpPr/>
          <p:nvPr/>
        </p:nvSpPr>
        <p:spPr>
          <a:xfrm>
            <a:off x="-88490" y="4161995"/>
            <a:ext cx="9144000" cy="914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5821AC25-3DD3-4ED5-A2EE-E610EBF5CE86}"/>
              </a:ext>
            </a:extLst>
          </p:cNvPr>
          <p:cNvSpPr/>
          <p:nvPr/>
        </p:nvSpPr>
        <p:spPr>
          <a:xfrm>
            <a:off x="569878" y="521941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229DD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Подключите вашу школу</a:t>
            </a:r>
            <a:endParaRPr lang="en-US" sz="2400" dirty="0">
              <a:solidFill>
                <a:srgbClr val="5229DD"/>
              </a:solidFill>
              <a:latin typeface="Arial Black" panose="020B0A04020102020204" pitchFamily="34" charset="0"/>
            </a:endParaRPr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911D38DF-A42B-4CF3-83D5-4B7A10FA7CA8}"/>
              </a:ext>
            </a:extLst>
          </p:cNvPr>
          <p:cNvSpPr/>
          <p:nvPr/>
        </p:nvSpPr>
        <p:spPr>
          <a:xfrm>
            <a:off x="551590" y="1190195"/>
            <a:ext cx="2011680" cy="347472"/>
          </a:xfrm>
          <a:prstGeom prst="rect">
            <a:avLst/>
          </a:prstGeom>
          <a:solidFill>
            <a:srgbClr val="613CDD">
              <a:alpha val="1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3E4A1C87-071B-48D4-B810-545078625C4B}"/>
              </a:ext>
            </a:extLst>
          </p:cNvPr>
          <p:cNvSpPr/>
          <p:nvPr/>
        </p:nvSpPr>
        <p:spPr>
          <a:xfrm>
            <a:off x="551590" y="1190195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2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шага до старта</a:t>
            </a:r>
            <a:endParaRPr lang="en-US" sz="1400" dirty="0">
              <a:solidFill>
                <a:srgbClr val="5229DD"/>
              </a:solidFill>
            </a:endParaRPr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EACB81A7-2975-4C00-B97E-82323F03C292}"/>
              </a:ext>
            </a:extLst>
          </p:cNvPr>
          <p:cNvSpPr/>
          <p:nvPr/>
        </p:nvSpPr>
        <p:spPr>
          <a:xfrm>
            <a:off x="661318" y="1945170"/>
            <a:ext cx="18288" cy="201168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19C28291-035A-4F55-BF53-C0FED11E5B60}"/>
              </a:ext>
            </a:extLst>
          </p:cNvPr>
          <p:cNvSpPr/>
          <p:nvPr/>
        </p:nvSpPr>
        <p:spPr>
          <a:xfrm>
            <a:off x="478438" y="1899450"/>
            <a:ext cx="384048" cy="384048"/>
          </a:xfrm>
          <a:prstGeom prst="ellipse">
            <a:avLst/>
          </a:prstGeom>
          <a:solidFill>
            <a:srgbClr val="613CDD"/>
          </a:solidFill>
          <a:ln/>
        </p:spPr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33AEE731-5FC2-491E-9AD7-5F750064C2EE}"/>
              </a:ext>
            </a:extLst>
          </p:cNvPr>
          <p:cNvSpPr/>
          <p:nvPr/>
        </p:nvSpPr>
        <p:spPr>
          <a:xfrm>
            <a:off x="478438" y="18994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68435CFC-2482-4537-80B5-41F38C6AC55D}"/>
              </a:ext>
            </a:extLst>
          </p:cNvPr>
          <p:cNvSpPr/>
          <p:nvPr/>
        </p:nvSpPr>
        <p:spPr>
          <a:xfrm>
            <a:off x="1054510" y="187201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2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Оставьте заявку</a:t>
            </a:r>
            <a:endParaRPr lang="en-US" sz="1500" dirty="0">
              <a:solidFill>
                <a:srgbClr val="5229DD"/>
              </a:solidFill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53462E78-2255-411C-A9F8-6EB45A2869C7}"/>
              </a:ext>
            </a:extLst>
          </p:cNvPr>
          <p:cNvSpPr/>
          <p:nvPr/>
        </p:nvSpPr>
        <p:spPr>
          <a:xfrm>
            <a:off x="1054510" y="210976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2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свяжемся в течение 24 часов и ответим на все вопросы</a:t>
            </a:r>
            <a:endParaRPr lang="en-US" sz="1000" dirty="0">
              <a:solidFill>
                <a:srgbClr val="5229DD"/>
              </a:solidFill>
            </a:endParaRPr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DC27D5FB-0AEE-4C86-B52D-04CC8FA6D80E}"/>
              </a:ext>
            </a:extLst>
          </p:cNvPr>
          <p:cNvSpPr/>
          <p:nvPr/>
        </p:nvSpPr>
        <p:spPr>
          <a:xfrm>
            <a:off x="478438" y="2676690"/>
            <a:ext cx="384048" cy="384048"/>
          </a:xfrm>
          <a:prstGeom prst="ellipse">
            <a:avLst/>
          </a:prstGeom>
          <a:solidFill>
            <a:srgbClr val="613CDD"/>
          </a:solidFill>
          <a:ln/>
        </p:spPr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03406EFA-60BE-4FD9-B024-D43AB4CE82AB}"/>
              </a:ext>
            </a:extLst>
          </p:cNvPr>
          <p:cNvSpPr/>
          <p:nvPr/>
        </p:nvSpPr>
        <p:spPr>
          <a:xfrm>
            <a:off x="478438" y="2676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73872015-C6BD-41FD-B89E-742E2494A53F}"/>
              </a:ext>
            </a:extLst>
          </p:cNvPr>
          <p:cNvSpPr/>
          <p:nvPr/>
        </p:nvSpPr>
        <p:spPr>
          <a:xfrm>
            <a:off x="1054510" y="264925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2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Подберите условия и предложения</a:t>
            </a:r>
            <a:endParaRPr lang="en-US" sz="1500" dirty="0">
              <a:solidFill>
                <a:srgbClr val="5229DD"/>
              </a:solidFill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E2065F01-E831-42E6-9C63-22BAB29CF3EA}"/>
              </a:ext>
            </a:extLst>
          </p:cNvPr>
          <p:cNvSpPr/>
          <p:nvPr/>
        </p:nvSpPr>
        <p:spPr>
          <a:xfrm>
            <a:off x="1054510" y="288700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2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предложим оптимальный вариант сотрудничества для вашей школы</a:t>
            </a:r>
            <a:endParaRPr lang="en-US" sz="1000" dirty="0">
              <a:solidFill>
                <a:srgbClr val="5229DD"/>
              </a:solidFill>
            </a:endParaRPr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F9C403DC-98D8-4BE8-8FF2-2552165DE3A5}"/>
              </a:ext>
            </a:extLst>
          </p:cNvPr>
          <p:cNvSpPr/>
          <p:nvPr/>
        </p:nvSpPr>
        <p:spPr>
          <a:xfrm>
            <a:off x="478438" y="3453930"/>
            <a:ext cx="384048" cy="384048"/>
          </a:xfrm>
          <a:prstGeom prst="ellipse">
            <a:avLst/>
          </a:prstGeom>
          <a:solidFill>
            <a:srgbClr val="613CDD"/>
          </a:solidFill>
          <a:ln/>
        </p:spPr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5F38F874-EA58-4174-8BBA-273E096EE905}"/>
              </a:ext>
            </a:extLst>
          </p:cNvPr>
          <p:cNvSpPr/>
          <p:nvPr/>
        </p:nvSpPr>
        <p:spPr>
          <a:xfrm>
            <a:off x="478438" y="34539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DB19ED9D-1638-4C20-A2D1-296F06F43828}"/>
              </a:ext>
            </a:extLst>
          </p:cNvPr>
          <p:cNvSpPr/>
          <p:nvPr/>
        </p:nvSpPr>
        <p:spPr>
          <a:xfrm>
            <a:off x="1054510" y="342649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2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Получите доступ</a:t>
            </a:r>
            <a:endParaRPr lang="en-US" sz="1500" dirty="0">
              <a:solidFill>
                <a:srgbClr val="5229DD"/>
              </a:solidFill>
            </a:endParaRPr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F91DE8D6-A278-4E93-9CE0-43FC778FD20D}"/>
              </a:ext>
            </a:extLst>
          </p:cNvPr>
          <p:cNvSpPr/>
          <p:nvPr/>
        </p:nvSpPr>
        <p:spPr>
          <a:xfrm>
            <a:off x="1054510" y="366424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2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Ваши ученики и учителя начинают работать с сентября 2026</a:t>
            </a:r>
            <a:endParaRPr lang="en-US" sz="1000" dirty="0">
              <a:solidFill>
                <a:srgbClr val="5229DD"/>
              </a:solidFill>
            </a:endParaRPr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8C5DD5DF-5DC7-47E8-920D-042412063DBE}"/>
              </a:ext>
            </a:extLst>
          </p:cNvPr>
          <p:cNvSpPr/>
          <p:nvPr/>
        </p:nvSpPr>
        <p:spPr>
          <a:xfrm>
            <a:off x="825910" y="4390595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2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futuredoctor@pimunn.net</a:t>
            </a:r>
            <a:endParaRPr lang="en-US" sz="1050" dirty="0">
              <a:solidFill>
                <a:srgbClr val="5229DD"/>
              </a:solidFill>
            </a:endParaRPr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C00F2117-0A65-4FC9-BDED-592927D668A5}"/>
              </a:ext>
            </a:extLst>
          </p:cNvPr>
          <p:cNvSpPr/>
          <p:nvPr/>
        </p:nvSpPr>
        <p:spPr>
          <a:xfrm>
            <a:off x="3843430" y="4390595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2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(831) 422-20-53</a:t>
            </a:r>
            <a:endParaRPr lang="en-US" sz="1050" dirty="0">
              <a:solidFill>
                <a:srgbClr val="5229DD"/>
              </a:solidFill>
            </a:endParaRPr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354AB824-6DE8-4683-BC98-4B9A35D0705D}"/>
              </a:ext>
            </a:extLst>
          </p:cNvPr>
          <p:cNvSpPr/>
          <p:nvPr/>
        </p:nvSpPr>
        <p:spPr>
          <a:xfrm>
            <a:off x="6586630" y="4390595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29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futuredoc.minzdrav.gov.ru</a:t>
            </a:r>
            <a:endParaRPr lang="en-US" sz="1050" dirty="0">
              <a:solidFill>
                <a:srgbClr val="5229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726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676</Words>
  <Application>Microsoft Office PowerPoint</Application>
  <PresentationFormat>Экран (16:9)</PresentationFormat>
  <Paragraphs>179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Платформа «Будущий врач» и ДМШ</dc:title>
  <dc:subject>PptxGenJS Presentation</dc:subject>
  <dc:creator>Будущий врач</dc:creator>
  <cp:lastModifiedBy>Nitro01</cp:lastModifiedBy>
  <cp:revision>11</cp:revision>
  <dcterms:created xsi:type="dcterms:W3CDTF">2026-04-21T07:50:21Z</dcterms:created>
  <dcterms:modified xsi:type="dcterms:W3CDTF">2026-04-21T09:55:51Z</dcterms:modified>
</cp:coreProperties>
</file>